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6"/>
  </p:notesMasterIdLst>
  <p:sldIdLst>
    <p:sldId id="256" r:id="rId2"/>
    <p:sldId id="258" r:id="rId3"/>
    <p:sldId id="259" r:id="rId4"/>
    <p:sldId id="260" r:id="rId5"/>
    <p:sldId id="261" r:id="rId6"/>
    <p:sldId id="262" r:id="rId7"/>
    <p:sldId id="269" r:id="rId8"/>
    <p:sldId id="263" r:id="rId9"/>
    <p:sldId id="270" r:id="rId10"/>
    <p:sldId id="264" r:id="rId11"/>
    <p:sldId id="268" r:id="rId12"/>
    <p:sldId id="265" r:id="rId13"/>
    <p:sldId id="266" r:id="rId14"/>
    <p:sldId id="267" r:id="rId15"/>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15D74A-198B-4B06-99DA-1EE12EA1E1CD}" v="67" dt="2026-06-19T05:33:19.3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6"/>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4"/>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1"/>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1"/>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1"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1"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6"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6"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1"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1"/>
            <a:ext cx="5111751"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1" y="1435101"/>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1"/>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9"/>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2"/>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685800" y="0"/>
            <a:ext cx="7772400" cy="120136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br>
              <a:rPr lang="en-US" sz="1800" b="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3600" b="1">
                <a:solidFill>
                  <a:srgbClr val="FF0000"/>
                </a:solidFill>
                <a:latin typeface="Times New Roman" panose="02020603050405020304"/>
                <a:ea typeface="Times New Roman" panose="02020603050405020304"/>
                <a:cs typeface="Times New Roman" panose="02020603050405020304"/>
                <a:sym typeface="Times New Roman" panose="02020603050405020304"/>
              </a:rPr>
              <a:t>Project Review Meeting  </a:t>
            </a:r>
            <a:br>
              <a:rPr lang="en-US" sz="2200">
                <a:latin typeface="Times New Roman" panose="02020603050405020304"/>
                <a:ea typeface="Times New Roman" panose="02020603050405020304"/>
                <a:cs typeface="Times New Roman" panose="02020603050405020304"/>
                <a:sym typeface="Times New Roman" panose="02020603050405020304"/>
              </a:rPr>
            </a:br>
            <a:r>
              <a:rPr lang="en-US" sz="2200" b="0">
                <a:solidFill>
                  <a:schemeClr val="dk1"/>
                </a:solidFill>
                <a:latin typeface="Times New Roman" panose="02020603050405020304"/>
                <a:ea typeface="Times New Roman" panose="02020603050405020304"/>
                <a:cs typeface="Times New Roman" panose="02020603050405020304"/>
                <a:sym typeface="Times New Roman" panose="02020603050405020304"/>
              </a:rPr>
              <a:t> on</a:t>
            </a:r>
            <a:br>
              <a:rPr lang="en-US" sz="2200">
                <a:latin typeface="Times New Roman" panose="02020603050405020304"/>
                <a:ea typeface="Times New Roman" panose="02020603050405020304"/>
                <a:cs typeface="Times New Roman" panose="02020603050405020304"/>
                <a:sym typeface="Times New Roman" panose="02020603050405020304"/>
              </a:rPr>
            </a:br>
            <a:r>
              <a:rPr lang="en-US" sz="3200">
                <a:latin typeface="Times New Roman" panose="02020603050405020304"/>
                <a:ea typeface="Times New Roman" panose="02020603050405020304"/>
                <a:cs typeface="Times New Roman" panose="02020603050405020304"/>
                <a:sym typeface="Times New Roman" panose="02020603050405020304"/>
              </a:rPr>
              <a:t> E-Commerce Product Catalouge</a:t>
            </a:r>
            <a:endParaRPr sz="4000" b="1">
              <a:latin typeface="Times New Roman" panose="02020603050405020304"/>
              <a:ea typeface="Times New Roman" panose="02020603050405020304"/>
              <a:cs typeface="Times New Roman" panose="02020603050405020304"/>
              <a:sym typeface="Times New Roman" panose="02020603050405020304"/>
            </a:endParaRPr>
          </a:p>
        </p:txBody>
      </p:sp>
      <p:sp>
        <p:nvSpPr>
          <p:cNvPr id="89" name="Google Shape;89;p13"/>
          <p:cNvSpPr txBox="1">
            <a:spLocks noGrp="1"/>
          </p:cNvSpPr>
          <p:nvPr>
            <p:ph type="subTitle" idx="1"/>
          </p:nvPr>
        </p:nvSpPr>
        <p:spPr>
          <a:xfrm>
            <a:off x="381000" y="1366277"/>
            <a:ext cx="8458200" cy="2895600"/>
          </a:xfrm>
          <a:prstGeom prst="rect">
            <a:avLst/>
          </a:prstGeom>
          <a:noFill/>
          <a:ln>
            <a:noFill/>
          </a:ln>
        </p:spPr>
        <p:txBody>
          <a:bodyPr spcFirstLastPara="1" wrap="square" lIns="91425" tIns="45700" rIns="91425" bIns="45700" anchor="t" anchorCtr="0">
            <a:normAutofit fontScale="47500" lnSpcReduction="20000"/>
          </a:bodyPr>
          <a:lstStyle/>
          <a:p>
            <a:pPr marL="0" marR="0" lvl="0" indent="0" algn="ctr" rtl="0">
              <a:lnSpc>
                <a:spcPct val="80000"/>
              </a:lnSpc>
              <a:spcBef>
                <a:spcPts val="0"/>
              </a:spcBef>
              <a:spcAft>
                <a:spcPts val="0"/>
              </a:spcAft>
              <a:buClr>
                <a:srgbClr val="888888"/>
              </a:buClr>
              <a:buSzPct val="100000"/>
              <a:buNone/>
            </a:pPr>
            <a:endParaRPr sz="2000">
              <a:solidFill>
                <a:srgbClr val="0D0D0D"/>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80000"/>
              </a:lnSpc>
              <a:spcBef>
                <a:spcPts val="210"/>
              </a:spcBef>
              <a:spcAft>
                <a:spcPts val="0"/>
              </a:spcAft>
              <a:buClr>
                <a:srgbClr val="888888"/>
              </a:buClr>
              <a:buSzPct val="100000"/>
              <a:buNone/>
            </a:pPr>
            <a:endParaRPr sz="2600" b="1">
              <a:solidFill>
                <a:srgbClr val="00B0F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80000"/>
              </a:lnSpc>
              <a:spcBef>
                <a:spcPts val="210"/>
              </a:spcBef>
              <a:spcAft>
                <a:spcPts val="0"/>
              </a:spcAft>
              <a:buClr>
                <a:srgbClr val="00B0F0"/>
              </a:buClr>
              <a:buSzPct val="100000"/>
              <a:buNone/>
            </a:pPr>
            <a:r>
              <a:rPr lang="en-US" sz="2600" b="1">
                <a:solidFill>
                  <a:srgbClr val="00B0F0"/>
                </a:solidFill>
                <a:latin typeface="Times New Roman" panose="02020603050405020304"/>
                <a:ea typeface="Times New Roman" panose="02020603050405020304"/>
                <a:cs typeface="Times New Roman" panose="02020603050405020304"/>
                <a:sym typeface="Times New Roman" panose="02020603050405020304"/>
              </a:rPr>
              <a:t>By</a:t>
            </a:r>
            <a:endParaRPr sz="2600" b="1">
              <a:solidFill>
                <a:srgbClr val="00B0F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80000"/>
              </a:lnSpc>
              <a:spcBef>
                <a:spcPts val="210"/>
              </a:spcBef>
              <a:spcAft>
                <a:spcPts val="0"/>
              </a:spcAft>
              <a:buClr>
                <a:srgbClr val="00B0F0"/>
              </a:buClr>
              <a:buSzPct val="100000"/>
              <a:buNone/>
            </a:pPr>
            <a:endParaRPr sz="2600" b="1">
              <a:solidFill>
                <a:srgbClr val="00B0F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80000"/>
              </a:lnSpc>
              <a:spcBef>
                <a:spcPts val="290"/>
              </a:spcBef>
              <a:spcAft>
                <a:spcPts val="0"/>
              </a:spcAft>
              <a:buClr>
                <a:srgbClr val="00B0F0"/>
              </a:buClr>
              <a:buSzPct val="138000"/>
              <a:buNone/>
            </a:pPr>
            <a:r>
              <a:rPr lang="en-US" sz="3790">
                <a:solidFill>
                  <a:srgbClr val="00B0F0"/>
                </a:solidFill>
                <a:latin typeface="Times New Roman" panose="02020603050405020304"/>
                <a:ea typeface="Times New Roman" panose="02020603050405020304"/>
                <a:cs typeface="Times New Roman" panose="02020603050405020304"/>
                <a:sym typeface="Times New Roman" panose="02020603050405020304"/>
              </a:rPr>
              <a:t>Simi Ayana - 2520030254</a:t>
            </a:r>
            <a:endParaRPr sz="3790">
              <a:solidFill>
                <a:srgbClr val="00B0F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80000"/>
              </a:lnSpc>
              <a:spcBef>
                <a:spcPts val="290"/>
              </a:spcBef>
              <a:spcAft>
                <a:spcPts val="0"/>
              </a:spcAft>
              <a:buClr>
                <a:srgbClr val="00B0F0"/>
              </a:buClr>
              <a:buSzPct val="100000"/>
              <a:buNone/>
            </a:pPr>
            <a:r>
              <a:rPr lang="en-US" sz="3790">
                <a:solidFill>
                  <a:srgbClr val="00B0F0"/>
                </a:solidFill>
                <a:latin typeface="Times New Roman" panose="02020603050405020304"/>
                <a:ea typeface="Times New Roman" panose="02020603050405020304"/>
                <a:cs typeface="Times New Roman" panose="02020603050405020304"/>
                <a:sym typeface="Times New Roman" panose="02020603050405020304"/>
              </a:rPr>
              <a:t>Srivalli - 2520090040</a:t>
            </a:r>
            <a:endParaRPr sz="3790">
              <a:solidFill>
                <a:srgbClr val="00B0F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80000"/>
              </a:lnSpc>
              <a:spcBef>
                <a:spcPts val="290"/>
              </a:spcBef>
              <a:spcAft>
                <a:spcPts val="0"/>
              </a:spcAft>
              <a:buClr>
                <a:srgbClr val="00B0F0"/>
              </a:buClr>
              <a:buSzPct val="100000"/>
              <a:buNone/>
            </a:pPr>
            <a:endParaRPr sz="3600" b="1">
              <a:solidFill>
                <a:srgbClr val="00B0F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80000"/>
              </a:lnSpc>
              <a:spcBef>
                <a:spcPts val="290"/>
              </a:spcBef>
              <a:spcAft>
                <a:spcPts val="0"/>
              </a:spcAft>
              <a:buClr>
                <a:srgbClr val="00B0F0"/>
              </a:buClr>
              <a:buSzPct val="100000"/>
              <a:buNone/>
            </a:pPr>
            <a:r>
              <a:rPr lang="en-US" sz="3600" b="1">
                <a:solidFill>
                  <a:srgbClr val="00B0F0"/>
                </a:solidFill>
                <a:latin typeface="Times New Roman" panose="02020603050405020304"/>
                <a:ea typeface="Times New Roman" panose="02020603050405020304"/>
                <a:cs typeface="Times New Roman" panose="02020603050405020304"/>
                <a:sym typeface="Times New Roman" panose="02020603050405020304"/>
              </a:rPr>
              <a:t>Team Number: 1</a:t>
            </a:r>
          </a:p>
          <a:p>
            <a:pPr marL="0" marR="0" lvl="0" indent="0" algn="ctr" rtl="0">
              <a:lnSpc>
                <a:spcPct val="80000"/>
              </a:lnSpc>
              <a:spcBef>
                <a:spcPts val="265"/>
              </a:spcBef>
              <a:spcAft>
                <a:spcPts val="0"/>
              </a:spcAft>
              <a:buClr>
                <a:srgbClr val="888888"/>
              </a:buClr>
              <a:buSzPct val="100000"/>
              <a:buNone/>
            </a:pPr>
            <a:endParaRPr sz="3300">
              <a:solidFill>
                <a:srgbClr val="0D0D0D"/>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80000"/>
              </a:lnSpc>
              <a:spcBef>
                <a:spcPts val="105"/>
              </a:spcBef>
              <a:spcAft>
                <a:spcPts val="0"/>
              </a:spcAft>
              <a:buClr>
                <a:srgbClr val="888888"/>
              </a:buClr>
              <a:buSzPct val="100000"/>
              <a:buNone/>
            </a:pPr>
            <a:endParaRPr sz="1300" b="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80000"/>
              </a:lnSpc>
              <a:spcBef>
                <a:spcPts val="265"/>
              </a:spcBef>
              <a:spcAft>
                <a:spcPts val="0"/>
              </a:spcAft>
              <a:buClr>
                <a:srgbClr val="FF0000"/>
              </a:buClr>
              <a:buSzPct val="100000"/>
              <a:buNone/>
            </a:pPr>
            <a:r>
              <a:rPr lang="en-US" sz="3300" b="1" i="1">
                <a:solidFill>
                  <a:srgbClr val="FF0000"/>
                </a:solidFill>
                <a:latin typeface="Times New Roman" panose="02020603050405020304"/>
                <a:ea typeface="Times New Roman" panose="02020603050405020304"/>
                <a:cs typeface="Times New Roman" panose="02020603050405020304"/>
                <a:sym typeface="Times New Roman" panose="02020603050405020304"/>
              </a:rPr>
              <a:t>Under the guidance of </a:t>
            </a:r>
          </a:p>
          <a:p>
            <a:pPr marL="0" marR="0" lvl="0" indent="0" algn="ctr" rtl="0">
              <a:lnSpc>
                <a:spcPct val="80000"/>
              </a:lnSpc>
              <a:spcBef>
                <a:spcPts val="190"/>
              </a:spcBef>
              <a:spcAft>
                <a:spcPts val="0"/>
              </a:spcAft>
              <a:buClr>
                <a:srgbClr val="888888"/>
              </a:buClr>
              <a:buSzPct val="100000"/>
              <a:buNone/>
            </a:pPr>
            <a:endParaRPr sz="2400">
              <a:solidFill>
                <a:srgbClr val="0D0D0D"/>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80000"/>
              </a:lnSpc>
              <a:spcBef>
                <a:spcPts val="270"/>
              </a:spcBef>
              <a:spcAft>
                <a:spcPts val="0"/>
              </a:spcAft>
              <a:buClr>
                <a:srgbClr val="00B0F0"/>
              </a:buClr>
              <a:buSzPct val="100000"/>
              <a:buNone/>
            </a:pPr>
            <a:r>
              <a:rPr lang="en-US" sz="3400" b="1">
                <a:solidFill>
                  <a:srgbClr val="00B0F0"/>
                </a:solidFill>
                <a:latin typeface="Times New Roman" panose="02020603050405020304"/>
                <a:ea typeface="Times New Roman" panose="02020603050405020304"/>
                <a:cs typeface="Times New Roman" panose="02020603050405020304"/>
                <a:sym typeface="Times New Roman" panose="02020603050405020304"/>
              </a:rPr>
              <a:t>Ms.D. Pavithra</a:t>
            </a:r>
          </a:p>
          <a:p>
            <a:pPr marL="0" marR="0" lvl="0" indent="0" algn="ctr" rtl="0">
              <a:lnSpc>
                <a:spcPct val="80000"/>
              </a:lnSpc>
              <a:spcBef>
                <a:spcPts val="270"/>
              </a:spcBef>
              <a:spcAft>
                <a:spcPts val="0"/>
              </a:spcAft>
              <a:buClr>
                <a:srgbClr val="00B0F0"/>
              </a:buClr>
              <a:buSzPct val="100000"/>
              <a:buNone/>
            </a:pPr>
            <a:r>
              <a:rPr lang="en-US" sz="3400" b="1">
                <a:solidFill>
                  <a:srgbClr val="00B0F0"/>
                </a:solidFill>
                <a:latin typeface="Times New Roman" panose="02020603050405020304"/>
                <a:ea typeface="Times New Roman" panose="02020603050405020304"/>
                <a:cs typeface="Times New Roman" panose="02020603050405020304"/>
                <a:sym typeface="Times New Roman" panose="02020603050405020304"/>
              </a:rPr>
              <a:t>Assistant Professor </a:t>
            </a:r>
          </a:p>
          <a:p>
            <a:pPr marL="0" marR="0" lvl="0" indent="0" algn="ctr" rtl="0">
              <a:lnSpc>
                <a:spcPct val="80000"/>
              </a:lnSpc>
              <a:spcBef>
                <a:spcPts val="190"/>
              </a:spcBef>
              <a:spcAft>
                <a:spcPts val="0"/>
              </a:spcAft>
              <a:buClr>
                <a:srgbClr val="888888"/>
              </a:buClr>
              <a:buSzPct val="100000"/>
              <a:buNone/>
            </a:pPr>
            <a:endParaRPr sz="24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80000"/>
              </a:lnSpc>
              <a:spcBef>
                <a:spcPts val="350"/>
              </a:spcBef>
              <a:spcAft>
                <a:spcPts val="0"/>
              </a:spcAft>
              <a:buClr>
                <a:srgbClr val="0070C0"/>
              </a:buClr>
              <a:buSzPct val="100000"/>
              <a:buNone/>
            </a:pPr>
            <a:r>
              <a:rPr lang="en-US" sz="4400" b="1">
                <a:solidFill>
                  <a:srgbClr val="0070C0"/>
                </a:solidFill>
                <a:latin typeface="Times New Roman" panose="02020603050405020304"/>
                <a:ea typeface="Times New Roman" panose="02020603050405020304"/>
                <a:cs typeface="Times New Roman" panose="02020603050405020304"/>
                <a:sym typeface="Times New Roman" panose="02020603050405020304"/>
              </a:rPr>
              <a:t>Department of Computer Science and Engineering</a:t>
            </a:r>
          </a:p>
          <a:p>
            <a:pPr marL="0" marR="0" lvl="0" indent="0" algn="ctr" rtl="0">
              <a:lnSpc>
                <a:spcPct val="80000"/>
              </a:lnSpc>
              <a:spcBef>
                <a:spcPts val="190"/>
              </a:spcBef>
              <a:spcAft>
                <a:spcPts val="0"/>
              </a:spcAft>
              <a:buClr>
                <a:srgbClr val="0D0D0D"/>
              </a:buClr>
              <a:buSzPct val="100000"/>
              <a:buNone/>
            </a:pPr>
            <a:r>
              <a:rPr lang="en-US" sz="2400" b="1">
                <a:solidFill>
                  <a:srgbClr val="0D0D0D"/>
                </a:solidFill>
                <a:latin typeface="Times New Roman" panose="02020603050405020304"/>
                <a:ea typeface="Times New Roman" panose="02020603050405020304"/>
                <a:cs typeface="Times New Roman" panose="02020603050405020304"/>
                <a:sym typeface="Times New Roman" panose="02020603050405020304"/>
              </a:rPr>
              <a:t>                                                </a:t>
            </a:r>
            <a:r>
              <a:rPr lang="en-US" sz="2400">
                <a:solidFill>
                  <a:srgbClr val="0D0D0D"/>
                </a:solidFill>
                <a:latin typeface="Times New Roman" panose="02020603050405020304"/>
                <a:ea typeface="Times New Roman" panose="02020603050405020304"/>
                <a:cs typeface="Times New Roman" panose="02020603050405020304"/>
                <a:sym typeface="Times New Roman" panose="02020603050405020304"/>
              </a:rPr>
              <a:t>                                                                          </a:t>
            </a:r>
          </a:p>
        </p:txBody>
      </p:sp>
      <p:sp>
        <p:nvSpPr>
          <p:cNvPr id="90" name="Google Shape;90;p13"/>
          <p:cNvSpPr txBox="1"/>
          <p:nvPr/>
        </p:nvSpPr>
        <p:spPr>
          <a:xfrm>
            <a:off x="349155" y="5257800"/>
            <a:ext cx="9144000" cy="1365695"/>
          </a:xfrm>
          <a:prstGeom prst="rect">
            <a:avLst/>
          </a:prstGeom>
          <a:noFill/>
          <a:ln>
            <a:noFill/>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Koneru Lakshmaiah Education Foundation</a:t>
            </a:r>
            <a:br>
              <a:rPr lang="en-US" sz="1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1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(Deemed to be University estd. u/s. 3 of the UGC Act, 1956)</a:t>
            </a:r>
            <a:br>
              <a:rPr lang="en-US" sz="1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16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Off-Campus: Bachupally-Gandimaisamma Road, Bowrampet, Hyderabad, Telangana - 500 043.</a:t>
            </a:r>
            <a:br>
              <a:rPr lang="en-US" sz="16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16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Phone No: 7815926816, </a:t>
            </a:r>
            <a:r>
              <a:rPr lang="en-US" sz="1600" b="1" i="0" u="sng" strike="noStrike" cap="none">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3"/>
              </a:rPr>
              <a:t>www.klh.edu.in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91" name="Google Shape;91;p13"/>
          <p:cNvPicPr preferRelativeResize="0"/>
          <p:nvPr/>
        </p:nvPicPr>
        <p:blipFill rotWithShape="1">
          <a:blip r:embed="rId4"/>
          <a:srcRect/>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panose="02020603050405020304"/>
              <a:buNone/>
            </a:pPr>
            <a:r>
              <a:rPr lang="en-US" sz="2800" b="1">
                <a:solidFill>
                  <a:srgbClr val="0070C0"/>
                </a:solidFill>
                <a:latin typeface="Times New Roman" panose="02020603050405020304"/>
                <a:ea typeface="Times New Roman" panose="02020603050405020304"/>
                <a:cs typeface="Times New Roman" panose="02020603050405020304"/>
                <a:sym typeface="Times New Roman" panose="02020603050405020304"/>
              </a:rPr>
              <a:t>Abstract</a:t>
            </a:r>
            <a:endParaRPr sz="2800"/>
          </a:p>
        </p:txBody>
      </p:sp>
      <p:sp>
        <p:nvSpPr>
          <p:cNvPr id="104" name="Google Shape;104;p15"/>
          <p:cNvSpPr txBox="1">
            <a:spLocks noGrp="1"/>
          </p:cNvSpPr>
          <p:nvPr>
            <p:ph type="body" idx="1"/>
          </p:nvPr>
        </p:nvSpPr>
        <p:spPr>
          <a:xfrm>
            <a:off x="457200" y="1417639"/>
            <a:ext cx="8229600" cy="4708526"/>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115000"/>
              </a:lnSpc>
              <a:spcBef>
                <a:spcPts val="800"/>
              </a:spcBef>
              <a:spcAft>
                <a:spcPts val="0"/>
              </a:spcAft>
              <a:buClr>
                <a:schemeClr val="dk1"/>
              </a:buClr>
              <a:buSzPts val="1100"/>
              <a:buFont typeface="Arial" panose="020B0604020202020204"/>
              <a:buNone/>
            </a:pPr>
            <a:r>
              <a:rPr lang="en-US"/>
              <a:t>The E-Commerce Product Catalogue is a web application that allows users to browse, search, compare and filter products efficiently. Built using React.js, Node.js and Express.js, it includes product listing, search suggestions, sorting, wishlist and comparison features. The price comparison feature helps users identify the best deals across platforms and make smarter purchasing decisions.</a:t>
            </a:r>
          </a:p>
          <a:p>
            <a:pPr marL="342900" lvl="0" indent="-139700" algn="l" rtl="0">
              <a:spcBef>
                <a:spcPts val="0"/>
              </a:spcBef>
              <a:spcAft>
                <a:spcPts val="0"/>
              </a:spcAft>
              <a:buClr>
                <a:schemeClr val="dk1"/>
              </a:buClr>
              <a:buSzPts val="3200"/>
              <a:buNone/>
            </a:pPr>
            <a:endParaRPr lang="en-US"/>
          </a:p>
        </p:txBody>
      </p:sp>
      <p:pic>
        <p:nvPicPr>
          <p:cNvPr id="105" name="Google Shape;105;p15"/>
          <p:cNvPicPr preferRelativeResize="0"/>
          <p:nvPr/>
        </p:nvPicPr>
        <p:blipFill rotWithShape="1">
          <a:blip r:embed="rId3"/>
          <a:srcRect/>
          <a:stretch>
            <a:fillRect/>
          </a:stretch>
        </p:blipFill>
        <p:spPr>
          <a:xfrm>
            <a:off x="228600" y="228599"/>
            <a:ext cx="15240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panose="02020603050405020304"/>
              <a:buNone/>
            </a:pPr>
            <a:r>
              <a:rPr lang="en-US" sz="2800" b="1">
                <a:solidFill>
                  <a:srgbClr val="0070C0"/>
                </a:solidFill>
                <a:latin typeface="Times New Roman" panose="02020603050405020304"/>
                <a:ea typeface="Times New Roman" panose="02020603050405020304"/>
                <a:cs typeface="Times New Roman" panose="02020603050405020304"/>
                <a:sym typeface="Times New Roman" panose="02020603050405020304"/>
              </a:rPr>
              <a:t>Introduction</a:t>
            </a:r>
          </a:p>
        </p:txBody>
      </p:sp>
      <p:sp>
        <p:nvSpPr>
          <p:cNvPr id="111" name="Google Shape;111;p16"/>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800"/>
              </a:spcBef>
              <a:spcAft>
                <a:spcPts val="0"/>
              </a:spcAft>
              <a:buClr>
                <a:schemeClr val="dk1"/>
              </a:buClr>
              <a:buSzPts val="1100"/>
              <a:buFont typeface="Arial" panose="020B0604020202020204"/>
              <a:buNone/>
            </a:pPr>
            <a:r>
              <a:rPr lang="en-US">
                <a:latin typeface="Arial" panose="020B0604020202020204"/>
                <a:ea typeface="Arial" panose="020B0604020202020204"/>
                <a:cs typeface="Arial" panose="020B0604020202020204"/>
                <a:sym typeface="Arial" panose="020B0604020202020204"/>
              </a:rPr>
              <a:t>•</a:t>
            </a:r>
            <a:r>
              <a:rPr lang="en-US"/>
              <a:t>Online shopping platforms contain thousands of products, making product discovery difficult. This project provides a centralized catalogue where users can easily explore products, apply filters and compare options. The system focuses on improving shopping convenience and user experience.</a:t>
            </a:r>
          </a:p>
          <a:p>
            <a:pPr marL="342900" lvl="0" indent="-139700" algn="l" rtl="0">
              <a:spcBef>
                <a:spcPts val="0"/>
              </a:spcBef>
              <a:spcAft>
                <a:spcPts val="0"/>
              </a:spcAft>
              <a:buClr>
                <a:schemeClr val="dk1"/>
              </a:buClr>
              <a:buSzPts val="3200"/>
              <a:buNone/>
            </a:pPr>
            <a:endParaRPr lang="en-US"/>
          </a:p>
        </p:txBody>
      </p:sp>
      <p:pic>
        <p:nvPicPr>
          <p:cNvPr id="112" name="Google Shape;112;p16"/>
          <p:cNvPicPr preferRelativeResize="0"/>
          <p:nvPr/>
        </p:nvPicPr>
        <p:blipFill rotWithShape="1">
          <a:blip r:embed="rId3"/>
          <a:srcRect/>
          <a:stretch>
            <a:fillRect/>
          </a:stretch>
        </p:blipFill>
        <p:spPr>
          <a:xfrm>
            <a:off x="228600" y="228599"/>
            <a:ext cx="1447800" cy="609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Times New Roman" panose="02020603050405020304"/>
              <a:buNone/>
            </a:pPr>
            <a:r>
              <a:rPr lang="en-US" sz="3100" b="1">
                <a:solidFill>
                  <a:srgbClr val="0070C0"/>
                </a:solidFill>
                <a:latin typeface="Times New Roman" panose="02020603050405020304"/>
                <a:ea typeface="Times New Roman" panose="02020603050405020304"/>
                <a:cs typeface="Times New Roman" panose="02020603050405020304"/>
                <a:sym typeface="Times New Roman" panose="02020603050405020304"/>
              </a:rPr>
              <a:t>Problem Statement</a:t>
            </a:r>
            <a:br>
              <a:rPr lang="en-US" b="1">
                <a:solidFill>
                  <a:srgbClr val="0070C0"/>
                </a:solidFill>
                <a:latin typeface="Times New Roman" panose="02020603050405020304"/>
                <a:ea typeface="Times New Roman" panose="02020603050405020304"/>
                <a:cs typeface="Times New Roman" panose="02020603050405020304"/>
                <a:sym typeface="Times New Roman" panose="02020603050405020304"/>
              </a:rPr>
            </a:br>
            <a:endParaRPr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8" name="Google Shape;118;p17"/>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800"/>
              </a:spcBef>
              <a:spcAft>
                <a:spcPts val="0"/>
              </a:spcAft>
              <a:buClr>
                <a:schemeClr val="dk1"/>
              </a:buClr>
              <a:buSzPts val="1100"/>
              <a:buFont typeface="Arial" panose="020B0604020202020204"/>
              <a:buNone/>
            </a:pPr>
            <a:r>
              <a:rPr lang="en-US">
                <a:latin typeface="Arial" panose="020B0604020202020204"/>
                <a:ea typeface="Arial" panose="020B0604020202020204"/>
                <a:cs typeface="Arial" panose="020B0604020202020204"/>
                <a:sym typeface="Arial" panose="020B0604020202020204"/>
              </a:rPr>
              <a:t>•</a:t>
            </a:r>
            <a:r>
              <a:rPr lang="en-US"/>
              <a:t>Users often spend significant time searching across multiple shopping platforms to compare products and prices. Lack of centralized comparison and filtering makes decision-making difficult. This project addresses these challenges by providing a unified product catalogue with advanced search and comparison features.</a:t>
            </a:r>
          </a:p>
          <a:p>
            <a:pPr marL="342900" lvl="0" indent="-139700" algn="l" rtl="0">
              <a:spcBef>
                <a:spcPts val="0"/>
              </a:spcBef>
              <a:spcAft>
                <a:spcPts val="0"/>
              </a:spcAft>
              <a:buClr>
                <a:schemeClr val="dk1"/>
              </a:buClr>
              <a:buSzPts val="3200"/>
              <a:buNone/>
            </a:pPr>
            <a:endParaRPr lang="en-US"/>
          </a:p>
        </p:txBody>
      </p:sp>
      <p:pic>
        <p:nvPicPr>
          <p:cNvPr id="119" name="Google Shape;119;p17"/>
          <p:cNvPicPr preferRelativeResize="0"/>
          <p:nvPr/>
        </p:nvPicPr>
        <p:blipFill rotWithShape="1">
          <a:blip r:embed="rId3"/>
          <a:srcRect/>
          <a:stretch>
            <a:fillRect/>
          </a:stretch>
        </p:blipFill>
        <p:spPr>
          <a:xfrm>
            <a:off x="228600" y="228599"/>
            <a:ext cx="13716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panose="02020603050405020304"/>
              <a:buNone/>
            </a:pPr>
            <a:r>
              <a:rPr lang="en-US" sz="2800" b="1">
                <a:solidFill>
                  <a:srgbClr val="0070C0"/>
                </a:solidFill>
                <a:latin typeface="Times New Roman" panose="02020603050405020304"/>
                <a:ea typeface="Times New Roman" panose="02020603050405020304"/>
                <a:cs typeface="Times New Roman" panose="02020603050405020304"/>
                <a:sym typeface="Times New Roman" panose="02020603050405020304"/>
              </a:rPr>
              <a:t>Project Flow Diagram</a:t>
            </a:r>
          </a:p>
        </p:txBody>
      </p:sp>
      <p:sp>
        <p:nvSpPr>
          <p:cNvPr id="125" name="Google Shape;125;p18"/>
          <p:cNvSpPr txBox="1">
            <a:spLocks noGrp="1"/>
          </p:cNvSpPr>
          <p:nvPr>
            <p:ph type="body" idx="1"/>
          </p:nvPr>
        </p:nvSpPr>
        <p:spPr>
          <a:xfrm>
            <a:off x="3162750" y="1417650"/>
            <a:ext cx="2818500" cy="4526100"/>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lnSpc>
                <a:spcPct val="115000"/>
              </a:lnSpc>
              <a:spcBef>
                <a:spcPts val="800"/>
              </a:spcBef>
              <a:spcAft>
                <a:spcPts val="0"/>
              </a:spcAft>
              <a:buClr>
                <a:schemeClr val="dk1"/>
              </a:buClr>
              <a:buSzPct val="34000"/>
              <a:buFont typeface="Arial" panose="020B0604020202020204"/>
              <a:buNone/>
            </a:pPr>
            <a:r>
              <a:rPr lang="en-US"/>
              <a:t>User Login / Access</a:t>
            </a:r>
          </a:p>
          <a:p>
            <a:pPr marL="0" lvl="0" indent="0" algn="l" rtl="0">
              <a:lnSpc>
                <a:spcPct val="115000"/>
              </a:lnSpc>
              <a:spcBef>
                <a:spcPts val="800"/>
              </a:spcBef>
              <a:spcAft>
                <a:spcPts val="0"/>
              </a:spcAft>
              <a:buClr>
                <a:schemeClr val="dk1"/>
              </a:buClr>
              <a:buSzPct val="34000"/>
              <a:buNone/>
            </a:pPr>
            <a:r>
              <a:rPr lang="en-US"/>
              <a:t>              ↓</a:t>
            </a:r>
            <a:endParaRPr>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800"/>
              </a:spcBef>
              <a:spcAft>
                <a:spcPts val="0"/>
              </a:spcAft>
              <a:buClr>
                <a:schemeClr val="dk1"/>
              </a:buClr>
              <a:buSzPct val="34000"/>
              <a:buNone/>
            </a:pPr>
            <a:r>
              <a:rPr lang="en-US"/>
              <a:t>Browse Product Categories</a:t>
            </a:r>
            <a:endParaRPr>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800"/>
              </a:spcBef>
              <a:spcAft>
                <a:spcPts val="0"/>
              </a:spcAft>
              <a:buClr>
                <a:schemeClr val="dk1"/>
              </a:buClr>
              <a:buSzPct val="34000"/>
              <a:buFont typeface="Arial" panose="020B0604020202020204"/>
              <a:buNone/>
            </a:pPr>
            <a:r>
              <a:rPr lang="en-US"/>
              <a:t>              ↓</a:t>
            </a:r>
          </a:p>
          <a:p>
            <a:pPr marL="0" lvl="0" indent="0" algn="l" rtl="0">
              <a:lnSpc>
                <a:spcPct val="115000"/>
              </a:lnSpc>
              <a:spcBef>
                <a:spcPts val="800"/>
              </a:spcBef>
              <a:spcAft>
                <a:spcPts val="0"/>
              </a:spcAft>
              <a:buClr>
                <a:schemeClr val="dk1"/>
              </a:buClr>
              <a:buSzPct val="34000"/>
              <a:buFont typeface="Arial" panose="020B0604020202020204"/>
              <a:buNone/>
            </a:pPr>
            <a:r>
              <a:rPr lang="en-US"/>
              <a:t>Search &amp; Apply Filters</a:t>
            </a:r>
          </a:p>
          <a:p>
            <a:pPr marL="0" lvl="0" indent="0" algn="l" rtl="0">
              <a:lnSpc>
                <a:spcPct val="115000"/>
              </a:lnSpc>
              <a:spcBef>
                <a:spcPts val="800"/>
              </a:spcBef>
              <a:spcAft>
                <a:spcPts val="0"/>
              </a:spcAft>
              <a:buClr>
                <a:schemeClr val="dk1"/>
              </a:buClr>
              <a:buSzPct val="34000"/>
              <a:buFont typeface="Arial" panose="020B0604020202020204"/>
              <a:buNone/>
            </a:pPr>
            <a:r>
              <a:rPr lang="en-US"/>
              <a:t>              ↓</a:t>
            </a:r>
          </a:p>
          <a:p>
            <a:pPr marL="0" lvl="0" indent="0" algn="l" rtl="0">
              <a:lnSpc>
                <a:spcPct val="115000"/>
              </a:lnSpc>
              <a:spcBef>
                <a:spcPts val="800"/>
              </a:spcBef>
              <a:spcAft>
                <a:spcPts val="0"/>
              </a:spcAft>
              <a:buClr>
                <a:schemeClr val="dk1"/>
              </a:buClr>
              <a:buSzPct val="34000"/>
              <a:buFont typeface="Arial" panose="020B0604020202020204"/>
              <a:buNone/>
            </a:pPr>
            <a:r>
              <a:rPr lang="en-US"/>
              <a:t>View Product Details</a:t>
            </a:r>
          </a:p>
          <a:p>
            <a:pPr marL="0" lvl="0" indent="0" algn="l" rtl="0">
              <a:lnSpc>
                <a:spcPct val="115000"/>
              </a:lnSpc>
              <a:spcBef>
                <a:spcPts val="800"/>
              </a:spcBef>
              <a:spcAft>
                <a:spcPts val="0"/>
              </a:spcAft>
              <a:buClr>
                <a:schemeClr val="dk1"/>
              </a:buClr>
              <a:buSzPct val="34000"/>
              <a:buFont typeface="Arial" panose="020B0604020202020204"/>
              <a:buNone/>
            </a:pPr>
            <a:r>
              <a:rPr lang="en-US"/>
              <a:t>              ↓</a:t>
            </a:r>
          </a:p>
          <a:p>
            <a:pPr marL="0" lvl="0" indent="0" algn="l" rtl="0">
              <a:lnSpc>
                <a:spcPct val="115000"/>
              </a:lnSpc>
              <a:spcBef>
                <a:spcPts val="800"/>
              </a:spcBef>
              <a:spcAft>
                <a:spcPts val="0"/>
              </a:spcAft>
              <a:buClr>
                <a:schemeClr val="dk1"/>
              </a:buClr>
              <a:buSzPct val="34000"/>
              <a:buFont typeface="Arial" panose="020B0604020202020204"/>
              <a:buNone/>
            </a:pPr>
            <a:r>
              <a:rPr lang="en-US"/>
              <a:t>Compare Products &amp; Prices</a:t>
            </a:r>
          </a:p>
          <a:p>
            <a:pPr marL="0" lvl="0" indent="0" algn="l" rtl="0">
              <a:lnSpc>
                <a:spcPct val="115000"/>
              </a:lnSpc>
              <a:spcBef>
                <a:spcPts val="800"/>
              </a:spcBef>
              <a:spcAft>
                <a:spcPts val="0"/>
              </a:spcAft>
              <a:buClr>
                <a:schemeClr val="dk1"/>
              </a:buClr>
              <a:buSzPct val="34000"/>
              <a:buNone/>
            </a:pPr>
            <a:r>
              <a:rPr lang="en-US"/>
              <a:t>              ↓</a:t>
            </a:r>
            <a:endParaRPr>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800"/>
              </a:spcBef>
              <a:spcAft>
                <a:spcPts val="0"/>
              </a:spcAft>
              <a:buClr>
                <a:schemeClr val="dk1"/>
              </a:buClr>
              <a:buSzPct val="34000"/>
              <a:buFont typeface="Arial" panose="020B0604020202020204"/>
              <a:buNone/>
            </a:pPr>
            <a:r>
              <a:rPr lang="en-US">
                <a:latin typeface="Arial" panose="020B0604020202020204"/>
                <a:ea typeface="Arial" panose="020B0604020202020204"/>
                <a:cs typeface="Arial" panose="020B0604020202020204"/>
                <a:sym typeface="Arial" panose="020B0604020202020204"/>
              </a:rPr>
              <a:t>  </a:t>
            </a:r>
            <a:r>
              <a:rPr lang="en-US"/>
              <a:t>Add to Wishlist</a:t>
            </a:r>
          </a:p>
          <a:p>
            <a:pPr marL="0" lvl="0" indent="0" algn="l" rtl="0">
              <a:lnSpc>
                <a:spcPct val="115000"/>
              </a:lnSpc>
              <a:spcBef>
                <a:spcPts val="800"/>
              </a:spcBef>
              <a:spcAft>
                <a:spcPts val="0"/>
              </a:spcAft>
              <a:buClr>
                <a:schemeClr val="dk1"/>
              </a:buClr>
              <a:buSzPct val="34000"/>
              <a:buFont typeface="Arial" panose="020B0604020202020204"/>
              <a:buNone/>
            </a:pPr>
            <a:r>
              <a:rPr lang="en-US">
                <a:latin typeface="Arial" panose="020B0604020202020204"/>
                <a:ea typeface="Arial" panose="020B0604020202020204"/>
                <a:cs typeface="Arial" panose="020B0604020202020204"/>
                <a:sym typeface="Arial" panose="020B0604020202020204"/>
              </a:rPr>
              <a:t>           </a:t>
            </a:r>
            <a:r>
              <a:rPr lang="en-US"/>
              <a:t>↓</a:t>
            </a:r>
          </a:p>
          <a:p>
            <a:pPr marL="342900" lvl="0" indent="-139700" algn="l" rtl="0">
              <a:spcBef>
                <a:spcPts val="0"/>
              </a:spcBef>
              <a:spcAft>
                <a:spcPts val="0"/>
              </a:spcAft>
              <a:buClr>
                <a:schemeClr val="dk1"/>
              </a:buClr>
              <a:buSzPct val="100000"/>
              <a:buNone/>
            </a:pPr>
            <a:r>
              <a:rPr lang="en-US"/>
              <a:t>Select Best Product</a:t>
            </a:r>
          </a:p>
        </p:txBody>
      </p:sp>
      <p:pic>
        <p:nvPicPr>
          <p:cNvPr id="126" name="Google Shape;126;p18"/>
          <p:cNvPicPr preferRelativeResize="0"/>
          <p:nvPr/>
        </p:nvPicPr>
        <p:blipFill rotWithShape="1">
          <a:blip r:embed="rId3"/>
          <a:srcRect/>
          <a:stretch>
            <a:fillRect/>
          </a:stretch>
        </p:blipFill>
        <p:spPr>
          <a:xfrm>
            <a:off x="228600" y="157795"/>
            <a:ext cx="14478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a:spLocks noGrp="1"/>
          </p:cNvSpPr>
          <p:nvPr>
            <p:ph type="title"/>
          </p:nvPr>
        </p:nvSpPr>
        <p:spPr>
          <a:xfrm>
            <a:off x="1066800" y="274638"/>
            <a:ext cx="7848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Times New Roman" panose="02020603050405020304"/>
              <a:buNone/>
            </a:pPr>
            <a:r>
              <a:rPr lang="en-US" sz="3100" b="1">
                <a:solidFill>
                  <a:srgbClr val="0070C0"/>
                </a:solidFill>
                <a:latin typeface="Times New Roman" panose="02020603050405020304"/>
                <a:ea typeface="Times New Roman" panose="02020603050405020304"/>
                <a:cs typeface="Times New Roman" panose="02020603050405020304"/>
                <a:sym typeface="Times New Roman" panose="02020603050405020304"/>
              </a:rPr>
              <a:t>Objectives with Justification</a:t>
            </a:r>
            <a:br>
              <a:rPr lang="en-US" b="1">
                <a:solidFill>
                  <a:srgbClr val="0070C0"/>
                </a:solidFill>
                <a:latin typeface="Times New Roman" panose="02020603050405020304"/>
                <a:ea typeface="Times New Roman" panose="02020603050405020304"/>
                <a:cs typeface="Times New Roman" panose="02020603050405020304"/>
                <a:sym typeface="Times New Roman" panose="02020603050405020304"/>
              </a:rPr>
            </a:br>
            <a:endParaRPr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p19"/>
          <p:cNvSpPr txBox="1">
            <a:spLocks noGrp="1"/>
          </p:cNvSpPr>
          <p:nvPr>
            <p:ph type="body" idx="1"/>
          </p:nvPr>
        </p:nvSpPr>
        <p:spPr>
          <a:xfrm>
            <a:off x="457200" y="1295401"/>
            <a:ext cx="8229600" cy="4830764"/>
          </a:xfrm>
          <a:prstGeom prst="rect">
            <a:avLst/>
          </a:prstGeom>
          <a:noFill/>
          <a:ln>
            <a:noFill/>
          </a:ln>
        </p:spPr>
        <p:txBody>
          <a:bodyPr spcFirstLastPara="1" wrap="square" lIns="91425" tIns="45700" rIns="91425" bIns="45700" anchor="t" anchorCtr="0">
            <a:normAutofit fontScale="92500"/>
          </a:bodyPr>
          <a:lstStyle/>
          <a:p>
            <a:pPr marL="114300" indent="0">
              <a:buNone/>
            </a:pPr>
            <a:r>
              <a:rPr sz="2800"/>
              <a:t>1. To develop a centralized airport operations dashboard.</a:t>
            </a:r>
            <a:endParaRPr lang="en-US" sz="2800"/>
          </a:p>
          <a:p>
            <a:r>
              <a:rPr sz="2800"/>
              <a:t>Justification: A centralized platform allows airport managers to monitor all critical operational information from a single interface, improving efficiency and decision-making.</a:t>
            </a:r>
          </a:p>
          <a:p>
            <a:pPr marL="114300" indent="0">
              <a:buNone/>
            </a:pPr>
            <a:endParaRPr sz="2800" dirty="0"/>
          </a:p>
          <a:p>
            <a:pPr marL="114300" indent="0">
              <a:buNone/>
            </a:pPr>
            <a:r>
              <a:rPr sz="2800"/>
              <a:t>2. To monitor flight operations and delays in real time.</a:t>
            </a:r>
          </a:p>
          <a:p>
            <a:r>
              <a:rPr sz="2800"/>
              <a:t>Justification: Real-time tracking of flights</a:t>
            </a:r>
            <a:r>
              <a:t> and delays helps identify operational issues quickly and supports timely corrective actions.</a:t>
            </a:r>
          </a:p>
          <a:p>
            <a:endParaRPr/>
          </a:p>
        </p:txBody>
      </p:sp>
      <p:pic>
        <p:nvPicPr>
          <p:cNvPr id="133" name="Google Shape;133;p19"/>
          <p:cNvPicPr preferRelativeResize="0"/>
          <p:nvPr/>
        </p:nvPicPr>
        <p:blipFill rotWithShape="1">
          <a:blip r:embed="rId3"/>
          <a:srcRect/>
          <a:stretch>
            <a:fillRect/>
          </a:stretch>
        </p:blipFill>
        <p:spPr>
          <a:xfrm>
            <a:off x="228600" y="228599"/>
            <a:ext cx="1295400" cy="6858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706D-34A7-FD7F-033F-0F57EEFDA249}"/>
              </a:ext>
            </a:extLst>
          </p:cNvPr>
          <p:cNvSpPr>
            <a:spLocks noGrp="1"/>
          </p:cNvSpPr>
          <p:nvPr>
            <p:ph type="title"/>
          </p:nvPr>
        </p:nvSpPr>
        <p:spPr/>
        <p:txBody>
          <a:bodyPr>
            <a:normAutofit/>
          </a:bodyPr>
          <a:lstStyle/>
          <a:p>
            <a:r>
              <a:rPr lang="en-US" sz="2800" b="1">
                <a:solidFill>
                  <a:srgbClr val="0070C0"/>
                </a:solidFill>
                <a:latin typeface="Times New Roman"/>
                <a:cs typeface="Times New Roman"/>
              </a:rPr>
              <a:t>Objectives with Justification</a:t>
            </a:r>
            <a:endParaRPr lang="en-US"/>
          </a:p>
        </p:txBody>
      </p:sp>
      <p:sp>
        <p:nvSpPr>
          <p:cNvPr id="3" name="Text Placeholder 2">
            <a:extLst>
              <a:ext uri="{FF2B5EF4-FFF2-40B4-BE49-F238E27FC236}">
                <a16:creationId xmlns:a16="http://schemas.microsoft.com/office/drawing/2014/main" id="{DDE1EDE2-BF19-A7C6-8887-F554B4E5C16D}"/>
              </a:ext>
            </a:extLst>
          </p:cNvPr>
          <p:cNvSpPr>
            <a:spLocks noGrp="1"/>
          </p:cNvSpPr>
          <p:nvPr>
            <p:ph type="body" idx="1"/>
          </p:nvPr>
        </p:nvSpPr>
        <p:spPr/>
        <p:txBody>
          <a:bodyPr spcFirstLastPara="1" wrap="square" lIns="91425" tIns="45700" rIns="91425" bIns="45700" anchor="t" anchorCtr="0">
            <a:noAutofit/>
          </a:bodyPr>
          <a:lstStyle/>
          <a:p>
            <a:pPr marL="114300" indent="0">
              <a:buNone/>
            </a:pPr>
            <a:r>
              <a:rPr lang="en-US" sz="2000"/>
              <a:t>3. To analyze airport slot utilization and resource allocation.</a:t>
            </a:r>
            <a:endParaRPr lang="en-US" sz="2000" dirty="0"/>
          </a:p>
          <a:p>
            <a:pPr marL="285750" indent="-285750"/>
            <a:r>
              <a:rPr lang="en-US" sz="2000"/>
              <a:t>Justification: Efficient slot management reduces congestion, improves airport capacity utilization, and supports smooth flight operations.</a:t>
            </a:r>
            <a:endParaRPr lang="en-US" sz="2000" dirty="0"/>
          </a:p>
          <a:p>
            <a:pPr marL="285750" indent="-285750"/>
            <a:endParaRPr lang="en-US" dirty="0"/>
          </a:p>
          <a:p>
            <a:pPr marL="114300" indent="0">
              <a:buNone/>
            </a:pPr>
            <a:r>
              <a:rPr lang="en-US" sz="2000"/>
              <a:t>4. To detect and manage gate conflicts effectively.</a:t>
            </a:r>
            <a:endParaRPr lang="en-US" sz="2000" dirty="0"/>
          </a:p>
          <a:p>
            <a:pPr marL="285750" indent="-285750"/>
            <a:r>
              <a:rPr lang="en-US" sz="2000"/>
              <a:t>Justification: Early detection of gate conflicts minimizes operational disruptions and helps maintain scheduled flight movements.</a:t>
            </a:r>
            <a:endParaRPr lang="en-US" sz="2000" dirty="0"/>
          </a:p>
          <a:p>
            <a:pPr marL="285750" indent="-285750"/>
            <a:endParaRPr lang="en-US" sz="2000" dirty="0"/>
          </a:p>
          <a:p>
            <a:pPr marL="114300" indent="0">
              <a:buNone/>
            </a:pPr>
            <a:r>
              <a:rPr lang="en-US" sz="2000"/>
              <a:t>5. To provide operational alerts, reports, and decision-support information.</a:t>
            </a:r>
            <a:endParaRPr lang="en-US" sz="2000" dirty="0"/>
          </a:p>
          <a:p>
            <a:pPr marL="285750" indent="-285750"/>
            <a:r>
              <a:rPr lang="en-US" sz="2000"/>
              <a:t>Justification: Notifications, alerts, and exportable reports enable airport managers to respond quickly to issues and make data-driven decisions.</a:t>
            </a:r>
            <a:endParaRPr lang="en-US" sz="2000" dirty="0"/>
          </a:p>
          <a:p>
            <a:pPr marL="114300" indent="0">
              <a:buNone/>
            </a:pPr>
            <a:endParaRPr lang="en-US" dirty="0"/>
          </a:p>
        </p:txBody>
      </p:sp>
      <p:pic>
        <p:nvPicPr>
          <p:cNvPr id="5" name="Google Shape;133;p19" descr="A logo with a black background&#10;&#10;AI-generated content may be incorrect.">
            <a:extLst>
              <a:ext uri="{FF2B5EF4-FFF2-40B4-BE49-F238E27FC236}">
                <a16:creationId xmlns:a16="http://schemas.microsoft.com/office/drawing/2014/main" id="{9907B045-AEB0-0753-DCBF-AF72DFBD9F09}"/>
              </a:ext>
            </a:extLst>
          </p:cNvPr>
          <p:cNvPicPr preferRelativeResize="0"/>
          <p:nvPr/>
        </p:nvPicPr>
        <p:blipFill rotWithShape="1">
          <a:blip r:embed="rId2"/>
          <a:srcRect/>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549964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0"/>
          <p:cNvSpPr txBox="1">
            <a:spLocks noGrp="1"/>
          </p:cNvSpPr>
          <p:nvPr>
            <p:ph type="title"/>
          </p:nvPr>
        </p:nvSpPr>
        <p:spPr>
          <a:xfrm>
            <a:off x="1447800" y="274638"/>
            <a:ext cx="7467600" cy="9445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panose="02020603050405020304"/>
              <a:buNone/>
            </a:pPr>
            <a:r>
              <a:rPr lang="en-US" sz="2800" b="1">
                <a:solidFill>
                  <a:srgbClr val="0070C0"/>
                </a:solidFill>
                <a:latin typeface="Times New Roman" panose="02020603050405020304"/>
                <a:ea typeface="Times New Roman" panose="02020603050405020304"/>
                <a:cs typeface="Times New Roman" panose="02020603050405020304"/>
                <a:sym typeface="Times New Roman" panose="02020603050405020304"/>
              </a:rPr>
              <a:t>Modules [Frontend web pages]</a:t>
            </a:r>
          </a:p>
        </p:txBody>
      </p:sp>
      <p:sp>
        <p:nvSpPr>
          <p:cNvPr id="139" name="Google Shape;139;p20"/>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fontScale="92500" lnSpcReduction="10000"/>
          </a:bodyPr>
          <a:lstStyle/>
          <a:p>
            <a:r>
              <a:t>Login Page - User authentication and secure access</a:t>
            </a:r>
          </a:p>
          <a:p>
            <a:r>
              <a:t>Dashboard Page - Displays KPI summaries and airport overview</a:t>
            </a:r>
          </a:p>
          <a:p>
            <a:r>
              <a:t>Slot Utilization Page - Monitors airport slot allocation</a:t>
            </a:r>
          </a:p>
          <a:p>
            <a:r>
              <a:t>Delay Analysis Page - Shows flight delay heatmaps</a:t>
            </a:r>
          </a:p>
          <a:p>
            <a:r>
              <a:t>Flight Operations Page - Displays flight schedules and status</a:t>
            </a:r>
          </a:p>
        </p:txBody>
      </p:sp>
      <p:pic>
        <p:nvPicPr>
          <p:cNvPr id="140" name="Google Shape;140;p20"/>
          <p:cNvPicPr preferRelativeResize="0"/>
          <p:nvPr/>
        </p:nvPicPr>
        <p:blipFill rotWithShape="1">
          <a:blip r:embed="rId3"/>
          <a:srcRect/>
          <a:stretch>
            <a:fillRect/>
          </a:stretch>
        </p:blipFill>
        <p:spPr>
          <a:xfrm>
            <a:off x="228600" y="92075"/>
            <a:ext cx="1295400" cy="6397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54128-FD71-CD66-15BA-46F79DC5AACC}"/>
              </a:ext>
            </a:extLst>
          </p:cNvPr>
          <p:cNvSpPr>
            <a:spLocks noGrp="1"/>
          </p:cNvSpPr>
          <p:nvPr>
            <p:ph type="title"/>
          </p:nvPr>
        </p:nvSpPr>
        <p:spPr/>
        <p:txBody>
          <a:bodyPr/>
          <a:lstStyle/>
          <a:p>
            <a:r>
              <a:rPr lang="en-US" sz="2800" b="1">
                <a:solidFill>
                  <a:srgbClr val="0070C0"/>
                </a:solidFill>
                <a:latin typeface="Times New Roman"/>
                <a:cs typeface="Times New Roman"/>
              </a:rPr>
              <a:t>Modules [Frontend web pages]</a:t>
            </a:r>
            <a:endParaRPr lang="en-US" sz="2800">
              <a:latin typeface="Times New Roman"/>
              <a:cs typeface="Times New Roman"/>
            </a:endParaRPr>
          </a:p>
          <a:p>
            <a:endParaRPr lang="en-US" dirty="0"/>
          </a:p>
        </p:txBody>
      </p:sp>
      <p:sp>
        <p:nvSpPr>
          <p:cNvPr id="3" name="Text Placeholder 2">
            <a:extLst>
              <a:ext uri="{FF2B5EF4-FFF2-40B4-BE49-F238E27FC236}">
                <a16:creationId xmlns:a16="http://schemas.microsoft.com/office/drawing/2014/main" id="{2AEF6B4E-60C9-5699-880C-EFD9B78FAE81}"/>
              </a:ext>
            </a:extLst>
          </p:cNvPr>
          <p:cNvSpPr>
            <a:spLocks noGrp="1"/>
          </p:cNvSpPr>
          <p:nvPr>
            <p:ph type="body" idx="1"/>
          </p:nvPr>
        </p:nvSpPr>
        <p:spPr/>
        <p:txBody>
          <a:bodyPr>
            <a:normAutofit fontScale="92500" lnSpcReduction="20000"/>
          </a:bodyPr>
          <a:lstStyle/>
          <a:p>
            <a:r>
              <a:rPr lang="en-US"/>
              <a:t>Weather Monitoring Page - Shows weather information</a:t>
            </a:r>
          </a:p>
          <a:p>
            <a:r>
              <a:rPr lang="en-US"/>
              <a:t>Gate Conflict Page - Detects gate assignment conflicts</a:t>
            </a:r>
          </a:p>
          <a:p>
            <a:r>
              <a:rPr lang="en-US"/>
              <a:t>Staff Management Page - Manages staff schedules and availability</a:t>
            </a:r>
          </a:p>
          <a:p>
            <a:r>
              <a:rPr lang="en-US"/>
              <a:t>Notifications Page - Displays alerts and operational updates</a:t>
            </a:r>
          </a:p>
          <a:p>
            <a:r>
              <a:rPr lang="en-US"/>
              <a:t>Admin Panel - System settings and configuration</a:t>
            </a:r>
          </a:p>
          <a:p>
            <a:r>
              <a:rPr lang="en-US"/>
              <a:t>Export Reports Page - Generates operational reports</a:t>
            </a:r>
          </a:p>
        </p:txBody>
      </p:sp>
      <p:pic>
        <p:nvPicPr>
          <p:cNvPr id="5" name="Google Shape;140;p20" descr="A red and black logo&#10;&#10;AI-generated content may be incorrect.">
            <a:extLst>
              <a:ext uri="{FF2B5EF4-FFF2-40B4-BE49-F238E27FC236}">
                <a16:creationId xmlns:a16="http://schemas.microsoft.com/office/drawing/2014/main" id="{EAFA25E7-7B27-0F5D-2178-C23B86AB5A40}"/>
              </a:ext>
            </a:extLst>
          </p:cNvPr>
          <p:cNvPicPr preferRelativeResize="0"/>
          <p:nvPr/>
        </p:nvPicPr>
        <p:blipFill rotWithShape="1">
          <a:blip r:embed="rId2"/>
          <a:srcRect/>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465726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1"/>
          <p:cNvSpPr txBox="1">
            <a:spLocks noGrp="1"/>
          </p:cNvSpPr>
          <p:nvPr>
            <p:ph type="title"/>
          </p:nvPr>
        </p:nvSpPr>
        <p:spPr>
          <a:xfrm>
            <a:off x="1524000" y="274638"/>
            <a:ext cx="7162800" cy="8683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Times New Roman" panose="02020603050405020304"/>
              <a:buNone/>
            </a:pPr>
            <a:r>
              <a:rPr lang="en-US" sz="3100" b="1">
                <a:solidFill>
                  <a:srgbClr val="0070C0"/>
                </a:solidFill>
                <a:latin typeface="Times New Roman" panose="02020603050405020304"/>
                <a:ea typeface="Times New Roman" panose="02020603050405020304"/>
                <a:cs typeface="Times New Roman" panose="02020603050405020304"/>
                <a:sym typeface="Times New Roman" panose="02020603050405020304"/>
              </a:rPr>
              <a:t>Expected Outcomes of the Proposed Work</a:t>
            </a:r>
            <a:br>
              <a:rPr lang="en-US" b="1">
                <a:solidFill>
                  <a:srgbClr val="0070C0"/>
                </a:solidFill>
                <a:latin typeface="Times New Roman" panose="02020603050405020304"/>
                <a:ea typeface="Times New Roman" panose="02020603050405020304"/>
                <a:cs typeface="Times New Roman" panose="02020603050405020304"/>
                <a:sym typeface="Times New Roman" panose="02020603050405020304"/>
              </a:rPr>
            </a:br>
            <a:endParaRPr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21"/>
          <p:cNvSpPr txBox="1">
            <a:spLocks noGrp="1"/>
          </p:cNvSpPr>
          <p:nvPr>
            <p:ph type="body" idx="1"/>
          </p:nvPr>
        </p:nvSpPr>
        <p:spPr>
          <a:xfrm>
            <a:off x="457200" y="1143001"/>
            <a:ext cx="8229600" cy="4983164"/>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800"/>
              </a:spcBef>
              <a:spcAft>
                <a:spcPts val="0"/>
              </a:spcAft>
              <a:buClr>
                <a:schemeClr val="dk1"/>
              </a:buClr>
              <a:buSzPts val="1100"/>
              <a:buFont typeface="Arial" panose="020B0604020202020204"/>
              <a:buNone/>
            </a:pPr>
            <a:r>
              <a:rPr lang="en-US"/>
              <a:t>• Faster product discovery.</a:t>
            </a:r>
          </a:p>
          <a:p>
            <a:pPr marL="0" lvl="0" indent="0" algn="l" rtl="0">
              <a:lnSpc>
                <a:spcPct val="115000"/>
              </a:lnSpc>
              <a:spcBef>
                <a:spcPts val="800"/>
              </a:spcBef>
              <a:spcAft>
                <a:spcPts val="0"/>
              </a:spcAft>
              <a:buClr>
                <a:schemeClr val="dk1"/>
              </a:buClr>
              <a:buSzPts val="1100"/>
              <a:buFont typeface="Arial" panose="020B0604020202020204"/>
              <a:buNone/>
            </a:pPr>
            <a:r>
              <a:rPr lang="en-US"/>
              <a:t>• Improved shopping experience.</a:t>
            </a:r>
          </a:p>
          <a:p>
            <a:pPr marL="0" lvl="0" indent="0" algn="l" rtl="0">
              <a:lnSpc>
                <a:spcPct val="115000"/>
              </a:lnSpc>
              <a:spcBef>
                <a:spcPts val="800"/>
              </a:spcBef>
              <a:spcAft>
                <a:spcPts val="0"/>
              </a:spcAft>
              <a:buClr>
                <a:schemeClr val="dk1"/>
              </a:buClr>
              <a:buSzPts val="1100"/>
              <a:buFont typeface="Arial" panose="020B0604020202020204"/>
              <a:buNone/>
            </a:pPr>
            <a:r>
              <a:rPr lang="en-US"/>
              <a:t>• Better price transparency.</a:t>
            </a:r>
          </a:p>
          <a:p>
            <a:pPr marL="0" lvl="0" indent="0" algn="l" rtl="0">
              <a:lnSpc>
                <a:spcPct val="115000"/>
              </a:lnSpc>
              <a:spcBef>
                <a:spcPts val="800"/>
              </a:spcBef>
              <a:spcAft>
                <a:spcPts val="0"/>
              </a:spcAft>
              <a:buClr>
                <a:schemeClr val="dk1"/>
              </a:buClr>
              <a:buSzPts val="1100"/>
              <a:buFont typeface="Arial" panose="020B0604020202020204"/>
              <a:buNone/>
            </a:pPr>
            <a:r>
              <a:rPr lang="en-US"/>
              <a:t>• Easier comparison of features and specifications.</a:t>
            </a:r>
          </a:p>
          <a:p>
            <a:pPr marL="0" lvl="0" indent="0" algn="l" rtl="0">
              <a:lnSpc>
                <a:spcPct val="115000"/>
              </a:lnSpc>
              <a:spcBef>
                <a:spcPts val="800"/>
              </a:spcBef>
              <a:spcAft>
                <a:spcPts val="0"/>
              </a:spcAft>
              <a:buClr>
                <a:schemeClr val="dk1"/>
              </a:buClr>
              <a:buSzPts val="1100"/>
              <a:buFont typeface="Arial" panose="020B0604020202020204"/>
              <a:buNone/>
            </a:pPr>
            <a:r>
              <a:rPr lang="en-US"/>
              <a:t>• Increased user satisfaction and informed purchasing decisions.</a:t>
            </a:r>
          </a:p>
          <a:p>
            <a:pPr marL="342900" lvl="0" indent="-139700" algn="l" rtl="0">
              <a:spcBef>
                <a:spcPts val="0"/>
              </a:spcBef>
              <a:spcAft>
                <a:spcPts val="0"/>
              </a:spcAft>
              <a:buClr>
                <a:schemeClr val="dk1"/>
              </a:buClr>
              <a:buSzPts val="3200"/>
              <a:buNone/>
            </a:pPr>
            <a:endParaRPr lang="en-US"/>
          </a:p>
        </p:txBody>
      </p:sp>
      <p:pic>
        <p:nvPicPr>
          <p:cNvPr id="147" name="Google Shape;147;p21"/>
          <p:cNvPicPr preferRelativeResize="0"/>
          <p:nvPr/>
        </p:nvPicPr>
        <p:blipFill rotWithShape="1">
          <a:blip r:embed="rId3"/>
          <a:srcRect/>
          <a:stretch>
            <a:fillRect/>
          </a:stretch>
        </p:blipFill>
        <p:spPr>
          <a:xfrm>
            <a:off x="228600" y="92075"/>
            <a:ext cx="1295400" cy="746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OUTPUT</a:t>
            </a:r>
          </a:p>
        </p:txBody>
      </p:sp>
      <p:pic>
        <p:nvPicPr>
          <p:cNvPr id="4" name="Picture 3"/>
          <p:cNvPicPr>
            <a:picLocks noChangeAspect="1"/>
          </p:cNvPicPr>
          <p:nvPr/>
        </p:nvPicPr>
        <p:blipFill>
          <a:blip r:embed="rId2"/>
          <a:stretch>
            <a:fillRect/>
          </a:stretch>
        </p:blipFill>
        <p:spPr>
          <a:xfrm>
            <a:off x="159385" y="3907790"/>
            <a:ext cx="8823325" cy="2673985"/>
          </a:xfrm>
          <a:prstGeom prst="rect">
            <a:avLst/>
          </a:prstGeom>
        </p:spPr>
      </p:pic>
      <p:pic>
        <p:nvPicPr>
          <p:cNvPr id="5" name="Picture 4"/>
          <p:cNvPicPr>
            <a:picLocks noChangeAspect="1"/>
          </p:cNvPicPr>
          <p:nvPr/>
        </p:nvPicPr>
        <p:blipFill>
          <a:blip r:embed="rId3"/>
          <a:stretch>
            <a:fillRect/>
          </a:stretch>
        </p:blipFill>
        <p:spPr>
          <a:xfrm>
            <a:off x="159385" y="1097280"/>
            <a:ext cx="8823960" cy="26968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2"/>
          <p:cNvSpPr txBox="1">
            <a:spLocks noGrp="1"/>
          </p:cNvSpPr>
          <p:nvPr>
            <p:ph type="title"/>
          </p:nvPr>
        </p:nvSpPr>
        <p:spPr>
          <a:xfrm>
            <a:off x="990600" y="228600"/>
            <a:ext cx="7696200" cy="6858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panose="02020603050405020304"/>
              <a:buNone/>
            </a:pPr>
            <a:r>
              <a:rPr lang="en-US" sz="2800" b="1">
                <a:solidFill>
                  <a:srgbClr val="0070C0"/>
                </a:solidFill>
                <a:latin typeface="Times New Roman" panose="02020603050405020304"/>
                <a:ea typeface="Times New Roman" panose="02020603050405020304"/>
                <a:cs typeface="Times New Roman" panose="02020603050405020304"/>
                <a:sym typeface="Times New Roman" panose="02020603050405020304"/>
              </a:rPr>
              <a:t>Conclusion and Future Scope</a:t>
            </a:r>
            <a:endParaRPr sz="28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22"/>
          <p:cNvSpPr txBox="1">
            <a:spLocks noGrp="1"/>
          </p:cNvSpPr>
          <p:nvPr>
            <p:ph type="body" idx="1"/>
          </p:nvPr>
        </p:nvSpPr>
        <p:spPr>
          <a:xfrm>
            <a:off x="457200" y="1050925"/>
            <a:ext cx="8229600" cy="5075239"/>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800"/>
              </a:spcBef>
              <a:spcAft>
                <a:spcPts val="0"/>
              </a:spcAft>
              <a:buClr>
                <a:schemeClr val="dk1"/>
              </a:buClr>
              <a:buSzPts val="1100"/>
              <a:buFont typeface="Arial" panose="020B0604020202020204"/>
              <a:buNone/>
            </a:pPr>
            <a:r>
              <a:rPr lang="en-US"/>
              <a:t>The project simplifies online product exploration through efficient search, filtering and comparison features. Future enhancements may include AI-based recommendations, real-time price tracking, personalized suggestions and mobile application support.</a:t>
            </a:r>
          </a:p>
          <a:p>
            <a:pPr marL="342900" lvl="0" indent="-139700" algn="l" rtl="0">
              <a:spcBef>
                <a:spcPts val="0"/>
              </a:spcBef>
              <a:spcAft>
                <a:spcPts val="0"/>
              </a:spcAft>
              <a:buClr>
                <a:schemeClr val="dk1"/>
              </a:buClr>
              <a:buSzPts val="3200"/>
              <a:buNone/>
            </a:pPr>
            <a:endParaRPr lang="en-US"/>
          </a:p>
        </p:txBody>
      </p:sp>
      <p:pic>
        <p:nvPicPr>
          <p:cNvPr id="154" name="Google Shape;154;p22"/>
          <p:cNvPicPr preferRelativeResize="0"/>
          <p:nvPr/>
        </p:nvPicPr>
        <p:blipFill rotWithShape="1">
          <a:blip r:embed="rId3"/>
          <a:srcRect/>
          <a:stretch>
            <a:fillRect/>
          </a:stretch>
        </p:blipFill>
        <p:spPr>
          <a:xfrm>
            <a:off x="228600" y="92075"/>
            <a:ext cx="12954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panose="02020603050405020304"/>
              <a:buNone/>
            </a:pPr>
            <a:r>
              <a:rPr lang="en-US" sz="2800" b="1">
                <a:solidFill>
                  <a:srgbClr val="0070C0"/>
                </a:solidFill>
                <a:latin typeface="Times New Roman" panose="02020603050405020304"/>
                <a:ea typeface="Times New Roman" panose="02020603050405020304"/>
                <a:cs typeface="Times New Roman" panose="02020603050405020304"/>
                <a:sym typeface="Times New Roman" panose="02020603050405020304"/>
              </a:rPr>
              <a:t>References </a:t>
            </a:r>
          </a:p>
        </p:txBody>
      </p:sp>
      <p:sp>
        <p:nvSpPr>
          <p:cNvPr id="160" name="Google Shape;160;p23"/>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800"/>
              </a:spcBef>
              <a:spcAft>
                <a:spcPts val="0"/>
              </a:spcAft>
              <a:buClr>
                <a:schemeClr val="dk1"/>
              </a:buClr>
              <a:buSzPts val="1100"/>
              <a:buFont typeface="Arial" panose="020B0604020202020204"/>
              <a:buNone/>
            </a:pPr>
            <a:r>
              <a:rPr lang="en-US"/>
              <a:t>1. React.js Documentation</a:t>
            </a:r>
          </a:p>
          <a:p>
            <a:pPr marL="0" lvl="0" indent="0" algn="l" rtl="0">
              <a:lnSpc>
                <a:spcPct val="115000"/>
              </a:lnSpc>
              <a:spcBef>
                <a:spcPts val="800"/>
              </a:spcBef>
              <a:spcAft>
                <a:spcPts val="0"/>
              </a:spcAft>
              <a:buClr>
                <a:schemeClr val="dk1"/>
              </a:buClr>
              <a:buSzPts val="1100"/>
              <a:buFont typeface="Arial" panose="020B0604020202020204"/>
              <a:buNone/>
            </a:pPr>
            <a:r>
              <a:rPr lang="en-US"/>
              <a:t>2. Node.js Documentation</a:t>
            </a:r>
          </a:p>
          <a:p>
            <a:pPr marL="0" lvl="0" indent="0" algn="l" rtl="0">
              <a:lnSpc>
                <a:spcPct val="115000"/>
              </a:lnSpc>
              <a:spcBef>
                <a:spcPts val="800"/>
              </a:spcBef>
              <a:spcAft>
                <a:spcPts val="0"/>
              </a:spcAft>
              <a:buClr>
                <a:schemeClr val="dk1"/>
              </a:buClr>
              <a:buSzPts val="1100"/>
              <a:buFont typeface="Arial" panose="020B0604020202020204"/>
              <a:buNone/>
            </a:pPr>
            <a:r>
              <a:rPr lang="en-US"/>
              <a:t>3. Express.js Documentation</a:t>
            </a:r>
          </a:p>
          <a:p>
            <a:pPr marL="0" lvl="0" indent="0" algn="l" rtl="0">
              <a:lnSpc>
                <a:spcPct val="115000"/>
              </a:lnSpc>
              <a:spcBef>
                <a:spcPts val="800"/>
              </a:spcBef>
              <a:spcAft>
                <a:spcPts val="0"/>
              </a:spcAft>
              <a:buClr>
                <a:schemeClr val="dk1"/>
              </a:buClr>
              <a:buSzPts val="1100"/>
              <a:buFont typeface="Arial" panose="020B0604020202020204"/>
              <a:buNone/>
            </a:pPr>
            <a:r>
              <a:rPr lang="en-US"/>
              <a:t>4. MDN Web Docs</a:t>
            </a:r>
          </a:p>
          <a:p>
            <a:pPr marL="0" lvl="0" indent="0" algn="l" rtl="0">
              <a:lnSpc>
                <a:spcPct val="115000"/>
              </a:lnSpc>
              <a:spcBef>
                <a:spcPts val="800"/>
              </a:spcBef>
              <a:spcAft>
                <a:spcPts val="0"/>
              </a:spcAft>
              <a:buClr>
                <a:schemeClr val="dk1"/>
              </a:buClr>
              <a:buSzPts val="1100"/>
              <a:buFont typeface="Arial" panose="020B0604020202020204"/>
              <a:buNone/>
            </a:pPr>
            <a:r>
              <a:rPr lang="en-US"/>
              <a:t>5. E-Commerce Website Design Resources</a:t>
            </a:r>
          </a:p>
          <a:p>
            <a:pPr marL="342900" lvl="0" indent="-139700" algn="l" rtl="0">
              <a:spcBef>
                <a:spcPts val="0"/>
              </a:spcBef>
              <a:spcAft>
                <a:spcPts val="0"/>
              </a:spcAft>
              <a:buClr>
                <a:schemeClr val="dk1"/>
              </a:buClr>
              <a:buSzPts val="3200"/>
              <a:buNone/>
            </a:pPr>
            <a:endParaRPr lang="en-US"/>
          </a:p>
        </p:txBody>
      </p:sp>
      <p:pic>
        <p:nvPicPr>
          <p:cNvPr id="161" name="Google Shape;161;p23"/>
          <p:cNvPicPr preferRelativeResize="0"/>
          <p:nvPr/>
        </p:nvPicPr>
        <p:blipFill rotWithShape="1">
          <a:blip r:embed="rId3"/>
          <a:srcRect/>
          <a:stretch>
            <a:fillRect/>
          </a:stretch>
        </p:blipFill>
        <p:spPr>
          <a:xfrm>
            <a:off x="228600" y="92075"/>
            <a:ext cx="14478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4"/>
          <p:cNvSpPr/>
          <p:nvPr/>
        </p:nvSpPr>
        <p:spPr>
          <a:xfrm>
            <a:off x="1767855" y="2774216"/>
            <a:ext cx="5608289"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5400" b="1" i="0" u="none" strike="noStrike" cap="none">
                <a:solidFill>
                  <a:srgbClr val="262626"/>
                </a:solidFill>
                <a:latin typeface="Calibri" panose="020F0502020204030204"/>
                <a:ea typeface="Calibri" panose="020F0502020204030204"/>
                <a:cs typeface="Calibri" panose="020F0502020204030204"/>
                <a:sym typeface="Calibri" panose="020F0502020204030204"/>
              </a:rPr>
              <a:t>Thank you</a:t>
            </a:r>
            <a:endParaRPr sz="5400" b="1" i="0" u="none" strike="noStrike" cap="non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2926</Words>
  <Application>Microsoft Office PowerPoint</Application>
  <PresentationFormat>On-screen Show (4:3)</PresentationFormat>
  <Paragraphs>98</Paragraphs>
  <Slides>14</Slides>
  <Notes>11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 Project Review Meeting    on  E-Commerce Product Catalouge</vt:lpstr>
      <vt:lpstr>Abstract</vt:lpstr>
      <vt:lpstr>Introduction</vt:lpstr>
      <vt:lpstr>Problem Statement </vt:lpstr>
      <vt:lpstr>Project Flow Diagram</vt:lpstr>
      <vt:lpstr>Objectives with Justification </vt:lpstr>
      <vt:lpstr>Objectives with Justification</vt:lpstr>
      <vt:lpstr>Modules [Frontend web pages]</vt:lpstr>
      <vt:lpstr>Modules [Frontend web pages] </vt:lpstr>
      <vt:lpstr>Expected Outcomes of the Proposed Work </vt:lpstr>
      <vt:lpstr>OUTPUT</vt:lpstr>
      <vt:lpstr>Conclusion and Future Scope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_x000b_Project Review Meeting    on  E-Commerce Product Catalouge</dc:title>
  <dc:creator/>
  <cp:lastModifiedBy>SRIVALLI PAGADALA</cp:lastModifiedBy>
  <cp:revision>42</cp:revision>
  <dcterms:created xsi:type="dcterms:W3CDTF">2026-06-05T05:08:26Z</dcterms:created>
  <dcterms:modified xsi:type="dcterms:W3CDTF">2026-06-19T05:33:51Z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39ED845D361946D893253FCDA676F2FF_13</vt:lpwstr>
  </property>
</Properties>
</file>